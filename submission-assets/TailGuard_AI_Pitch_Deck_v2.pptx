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29f276fac543f4" /><Relationship Type="http://schemas.openxmlformats.org/officeDocument/2006/relationships/extended-properties" Target="/docProps/app.xml" Id="Ra68e069e55ad4540" /><Relationship Type="http://schemas.openxmlformats.org/officeDocument/2006/relationships/officeDocument" Target="/ppt/presentation.xml" Id="Rb2e6e3bd8c4046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491076c9f9415f"/>
  </p:sldMasterIdLst>
  <p:notesMasterIdLst>
    <p:notesMasterId xmlns:r="http://schemas.openxmlformats.org/officeDocument/2006/relationships" r:id="Raae446d069b54445"/>
  </p:notesMasterIdLst>
  <p:sldIdLst>
    <p:sldId xmlns:r="http://schemas.openxmlformats.org/officeDocument/2006/relationships" id="256" r:id="R84fcae39eb0c4c94"/>
    <p:sldId xmlns:r="http://schemas.openxmlformats.org/officeDocument/2006/relationships" id="257" r:id="R6fd63b16c62647fe"/>
    <p:sldId xmlns:r="http://schemas.openxmlformats.org/officeDocument/2006/relationships" id="258" r:id="Rde40263b7aa24a2b"/>
    <p:sldId xmlns:r="http://schemas.openxmlformats.org/officeDocument/2006/relationships" id="259" r:id="Raa762d881e964d63"/>
    <p:sldId xmlns:r="http://schemas.openxmlformats.org/officeDocument/2006/relationships" id="260" r:id="R816532fccf4f42db"/>
    <p:sldId xmlns:r="http://schemas.openxmlformats.org/officeDocument/2006/relationships" id="261" r:id="R1d0a0665a080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8310578bc34222" /><Relationship Type="http://schemas.openxmlformats.org/officeDocument/2006/relationships/slideMaster" Target="/ppt/slideMasters/slideMaster1.xml" Id="R79491076c9f9415f" /><Relationship Type="http://schemas.openxmlformats.org/officeDocument/2006/relationships/notesMaster" Target="/ppt/notesMasters/notesMaster1.xml" Id="Raae446d069b54445" /><Relationship Type="http://schemas.openxmlformats.org/officeDocument/2006/relationships/presProps" Target="/ppt/presProps.xml" Id="R6bacb6cce4b647f5" /><Relationship Type="http://schemas.openxmlformats.org/officeDocument/2006/relationships/tableStyles" Target="/ppt/tableStyles.xml" Id="R379f1a0db90849a7" /><Relationship Type="http://schemas.openxmlformats.org/officeDocument/2006/relationships/slide" Target="/ppt/slides/slide1.xml" Id="R84fcae39eb0c4c94" /><Relationship Type="http://schemas.openxmlformats.org/officeDocument/2006/relationships/slide" Target="/ppt/slides/slide2.xml" Id="R6fd63b16c62647fe" /><Relationship Type="http://schemas.openxmlformats.org/officeDocument/2006/relationships/slide" Target="/ppt/slides/slide3.xml" Id="Rde40263b7aa24a2b" /><Relationship Type="http://schemas.openxmlformats.org/officeDocument/2006/relationships/slide" Target="/ppt/slides/slide4.xml" Id="Raa762d881e964d63" /><Relationship Type="http://schemas.openxmlformats.org/officeDocument/2006/relationships/slide" Target="/ppt/slides/slide5.xml" Id="R816532fccf4f42db" /><Relationship Type="http://schemas.openxmlformats.org/officeDocument/2006/relationships/slide" Target="/ppt/slides/slide6.xml" Id="R1d0a0665a080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b1e7996f94b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574bdb570f4639" /><Relationship Type="http://schemas.openxmlformats.org/officeDocument/2006/relationships/notesMaster" Target="/ppt/notesMasters/notesMaster1.xml" Id="R11f2fc311c4b49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326bd2641a4c4e" /><Relationship Type="http://schemas.openxmlformats.org/officeDocument/2006/relationships/notesMaster" Target="/ppt/notesMasters/notesMaster1.xml" Id="R1dc92d2ea7a8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f394fb61c485b" /><Relationship Type="http://schemas.openxmlformats.org/officeDocument/2006/relationships/notesMaster" Target="/ppt/notesMasters/notesMaster1.xml" Id="Rcce65f9ee0a349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350334577348e5" /><Relationship Type="http://schemas.openxmlformats.org/officeDocument/2006/relationships/notesMaster" Target="/ppt/notesMasters/notesMaster1.xml" Id="Rb87beae3748d49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7b0350f41646e2" /><Relationship Type="http://schemas.openxmlformats.org/officeDocument/2006/relationships/notesMaster" Target="/ppt/notesMasters/notesMaster1.xml" Id="Ra83dcdd16e4b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ccdfe8c3647a9" /><Relationship Type="http://schemas.openxmlformats.org/officeDocument/2006/relationships/notesMaster" Target="/ppt/notesMasters/notesMaster1.xml" Id="Rdaec08dd9832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TailGuard AI for the Alpaca AI Trading Agents Hackathon. The product selects and submits defined risk QQQ option spreads through Alpaca Paper. Cover artwork generated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example uses the first verified Alpaca Paper test on 4 September 2026. QQQ 681/666 put debit spread, one contract, 0.27 limit debit. Alpaca accepted broker order 95c4b8e8-6cf2-4974-9c16-7b452598cf99.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uses two execution controls. The server must enable Paper execution and the request must include confirmPaperOrder=true. Live brokerage execution is never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Alpaca Paper results from 4 September 2026. Order 95c4b8e8-6cf2-4974-9c16-7b452598cf99 and order 77359dc5-9cd4-4daf-9c27-1f9ab99f6260 returned accepted. Both were canceled after verification with filled_qty 0. Receipts are included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TailGuard always uses https://paper-api.alpaca.markets. Local execution was enabled only long enough to run the two requested tests, then disabled again.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URL: https://tailguard-ai.airy-otter-8097.chatgpt.site. The production deployment stages orders while Paper execution remains disabled after the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b0933b351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fe1053157e4260" /><Relationship Type="http://schemas.openxmlformats.org/officeDocument/2006/relationships/slideLayout" Target="/ppt/slideLayouts/slideLayout1.xml" Id="R835a55d2d07a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a55d2d07a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79d77032a40c0" /><Relationship Type="http://schemas.openxmlformats.org/officeDocument/2006/relationships/image" Target="/ppt/media/image.png" Id="R1229b8106b6349e7" /><Relationship Type="http://schemas.openxmlformats.org/officeDocument/2006/relationships/notesSlide" Target="/ppt/notesSlides/notesSlide1.xml" Id="R18000e6710ce4a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cbdffbeeb4250" /><Relationship Type="http://schemas.openxmlformats.org/officeDocument/2006/relationships/notesSlide" Target="/ppt/notesSlides/notesSlide2.xml" Id="Rbbf6e3148662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1a7cfca0045d8" /><Relationship Type="http://schemas.openxmlformats.org/officeDocument/2006/relationships/notesSlide" Target="/ppt/notesSlides/notesSlide3.xml" Id="R7be2852c30f448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e25402a2547a5" /><Relationship Type="http://schemas.openxmlformats.org/officeDocument/2006/relationships/notesSlide" Target="/ppt/notesSlides/notesSlide4.xml" Id="Rf1721413e40d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8bd884d6c4ca3" /><Relationship Type="http://schemas.openxmlformats.org/officeDocument/2006/relationships/notesSlide" Target="/ppt/notesSlides/notesSlide5.xml" Id="R89961b287d1a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b5a6d465c4b79" /><Relationship Type="http://schemas.openxmlformats.org/officeDocument/2006/relationships/notesSlide" Target="/ppt/notesSlides/notesSlide6.xml" Id="R148b23aa57e94b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9b8106b6349e7"/>
          <a:srcRect xmlns:a="http://schemas.openxmlformats.org/drawingml/2006/main" l="26550" t="0" r="265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6C4-4AA0-44D4-BA07-5D1DC68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6CDE6-09B8-4CF1-987E-C259ECF1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TAILGUARD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011DC-7447-4E16-B506-54F6361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561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An AI agent that buys</a:t>
            </a:r>
          </a:p>
          <a:p xmlns:a="http://schemas.openxmlformats.org/drawingml/2006/main">
            <a:pPr>
              <a:defRPr sz="36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downside protection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88677-DEC3-425F-AEE3-3D3D214E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095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user sets a loss scenario and spending limit. TailGuard selects a defined risk QQQ put spread and sends the order to Alpaca Paper.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40005-56A7-4E79-A6B6-AC8B95AC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Two Paper orders accepted by Alpaca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A92F9-3A74-476D-BEC9-18850AC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$27 and $12 maximum premium</a:t>
            </a:r>
          </a:p>
        </p:txBody>
      </p:sp>
    </p:spTree>
    <p:extLst>
      <p:ext uri="{BB962C8B-B14F-4D97-AF65-F5344CB8AC3E}">
        <p14:creationId xmlns:p14="http://schemas.microsoft.com/office/powerpoint/2010/main" val="1401666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86C37-3A35-41ED-A585-FF2388FC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What the product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688F3-F85C-4851-BFFA-5D93D43A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6E693-7B3D-4053-BE0C-A141CB49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B750C-9F8E-4C90-B589-A9148D4D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USER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4309E-8CEF-434F-99FE-05F4D3A3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61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Protect my portfolio from a 5% QQQ selloff.</a:t>
            </a:r>
          </a:p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Spend no more than $100.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1CA37-FDCC-45A4-99C3-0AF2125D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6858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AA5C3-F5D7-4CFE-8349-3F7B5EB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TAILGUARD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54AC8-C74A-4289-94F1-66F0A96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Buy QQQ 681 put</a:t>
            </a:r>
          </a:p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Sell QQQ 666 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6F92E-81A0-4562-8BE6-3788F334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$0.27 debit   $27 maximum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8C223-D421-44B4-9439-29A93B9B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94959-BB1D-47E9-AA68-85438F3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TailGuard reads the live QQQ option chain, rejects unsafe candidates, constructs an Alpaca multi leg order, and returns the broker receipt.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BE8BC-DAC8-44A0-9629-2A8B7E27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language model interprets the mandate. Deterministic code chooses the contracts and price.</a:t>
            </a:r>
          </a:p>
        </p:txBody>
      </p:sp>
    </p:spTree>
    <p:extLst>
      <p:ext uri="{BB962C8B-B14F-4D97-AF65-F5344CB8AC3E}">
        <p14:creationId xmlns:p14="http://schemas.microsoft.com/office/powerpoint/2010/main" val="114791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DEE86-D2E1-4C19-B0D9-69F82110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The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4EBF3-6C21-4F18-B5E0-37E2BEFA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5506A-A611-4C80-8760-8949F02E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CCE28-6237-4CCA-AF0F-4BB7CC1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526E2-460B-4A2E-B001-6073B6CB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Set the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0043E-8703-4C06-87B6-5D067CE2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Choose a market drop and the most premium TailGuard may spend.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90E4B-CD6B-4607-BDC8-AA924285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314FF-7CE3-47DF-906B-1D95B962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764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Run the protection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D13CD-2580-4B5B-969A-93427C1A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reads Alpaca account data, QQQ price, and the option 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42E21-7C66-49AC-AF2F-379D64A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F80E6-A610-48F1-A2C4-0BA19C65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Review the 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70B8E-9268-40CE-94C1-E3A1592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screen shows both legs, debit, maximum cost, and five policy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DC82C-9B8C-48A2-8C8B-7F1FFF2F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80CE8-8FD0-4313-9523-F536E2D2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Confirm the Paper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865E0-E8D1-41EE-B6E0-A2DD2078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A second explicit confirmation sends one capped multi leg order to Alpaca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F44BE-9C07-4760-811F-A114C5D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DF776-0D4C-4110-9A85-58125739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62550"/>
            <a:ext cx="909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Broker order ID, status, timestamp, contract scan count, selected legs, and full JSON receipt</a:t>
            </a:r>
          </a:p>
        </p:txBody>
      </p:sp>
    </p:spTree>
    <p:extLst>
      <p:ext uri="{BB962C8B-B14F-4D97-AF65-F5344CB8AC3E}">
        <p14:creationId xmlns:p14="http://schemas.microsoft.com/office/powerpoint/2010/main" val="549988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47BCF-9CD5-4291-A861-D5E09237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Alpaca Paper order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9378A-9480-473F-AF5D-884ADC0C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B5F25-7C0D-4B01-9C6A-32BB218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E3F11-D01D-4FFF-8F1A-05955BC3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Both orders reached Alpaca and returned broker status accepted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108585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428875"/>
                <a:gridCol w="2428875"/>
                <a:gridCol w="1095375"/>
                <a:gridCol w="1571625"/>
                <a:gridCol w="2095500"/>
              </a:tblGrid>
              <a:tr h="7048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Long put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Short put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Alpaca status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Broker order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5% drop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681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666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$0.27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ACCEPTED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95c4b8e8…cf99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8% drop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660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645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$0.12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ACCEPTED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77359dc5…6260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8BD90-E263-4980-901D-95CFB8E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$39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AF97E-324D-490F-9426-09C8EAAD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combined maximum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A8609-2B05-46B7-A7F7-0ED144D5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5EA7B-68EC-416B-8BFD-924B28A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contracts filled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26EDF-93FE-41E3-957D-C477402B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244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CANCELED AFTER 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44E96-62C2-42D5-9F3B-C3165863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7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test proved submission without leaving queued exposure.</a:t>
            </a:r>
          </a:p>
        </p:txBody>
      </p:sp>
    </p:spTree>
    <p:extLst>
      <p:ext uri="{BB962C8B-B14F-4D97-AF65-F5344CB8AC3E}">
        <p14:creationId xmlns:p14="http://schemas.microsoft.com/office/powerpoint/2010/main" val="110798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BE9A9-F7F1-486C-B3BC-D17DF76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How TailGuard limits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C110F-1AFC-4B6F-96E4-0587AA4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E22AB-D31D-4073-865A-FC81636F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C5FAA-2C50-40AF-982E-4C6D1A26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B9ED7-5F27-4547-83EA-B6FB86BD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95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Defined risk spreads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F7712-717F-4E10-B9F0-64916F34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Every order pairs a long put with a lower strike short put. TailGuard never sends a naked option.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4416C-C66F-4A8F-AD5F-FEF5313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A1AC1-6ECE-4E4C-B5EB-61C9155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Premium capped before 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49F93-EC91-497D-9D18-34AE67A4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selected debit must fit the user budget. The two tests risked at most $27 and $12 in Paper funds.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02B9B-AB81-4560-A51F-446C93F1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C4BEF-EE60-4C96-87E7-C0A309F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Explicit Paper confirmation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E0B71-8ED1-46C2-BBE4-2EF9D7E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Staging stays read only. Submission requires a server flag plus a confirmed request. Production returns to disabled after testing.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B3616-1053-48E1-B597-28B86D6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770"/>
                </a:solidFill>
                <a:latin typeface="Arial"/>
                <a:ea typeface="Arial"/>
                <a:cs typeface="Arial"/>
              </a:rPr>
              <a:t>Paper trading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6DAAA-15C8-4E77-BC0D-5E9F82D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No real money and no live brokerage endpoint</a:t>
            </a:r>
          </a:p>
        </p:txBody>
      </p:sp>
    </p:spTree>
    <p:extLst>
      <p:ext uri="{BB962C8B-B14F-4D97-AF65-F5344CB8AC3E}">
        <p14:creationId xmlns:p14="http://schemas.microsoft.com/office/powerpoint/2010/main" val="336178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DB1B4-C408-4ED0-B008-5F8DAFC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Submission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929B2-E827-4ED2-9722-5C484DFC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6D6B7-939E-4883-8688-04AAF31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292B9-A519-4326-B476-E8E701BA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In 60 seconds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68B5B-88D2-4C3B-B798-9EEAE42A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1. Set a 5% QQQ selloff and $100 budget</a:t>
            </a:r>
          </a:p>
          <a:p xmlns:a="http://schemas.openxmlformats.org/drawingml/2006/main">
            <a:pPr>
              <a:defRPr sz="18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2. Run the live protection cycle</a:t>
            </a:r>
          </a:p>
          <a:p xmlns:a="http://schemas.openxmlformats.org/drawingml/2006/main">
            <a:pPr>
              <a:defRPr sz="18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3. Show the selected put spread and five passed gates</a:t>
            </a:r>
          </a:p>
          <a:p xmlns:a="http://schemas.openxmlformats.org/drawingml/2006/main">
            <a:pPr>
              <a:defRPr sz="18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4. Open the broker receipt and Paper order 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40195-C9CE-4CC8-984F-7453B9EE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190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48C16-32B8-4362-8E70-ECAEA11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Built with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E18C4-645B-4258-A71C-448E5AD2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Alpaca Trading API</a:t>
            </a:r>
          </a:p>
          <a:p xmlns:a="http://schemas.openxmlformats.org/drawingml/2006/main">
            <a:pPr>
              <a:defRPr sz="18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Alpaca Market Data API</a:t>
            </a:r>
          </a:p>
          <a:p xmlns:a="http://schemas.openxmlformats.org/drawingml/2006/main">
            <a:pPr>
              <a:defRPr sz="18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React and TypeScript</a:t>
            </a:r>
          </a:p>
          <a:p xmlns:a="http://schemas.openxmlformats.org/drawingml/2006/main">
            <a:pPr>
              <a:defRPr sz="18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OpenAI Sites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DF7C5-57D3-4065-8185-906211C6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tailguard-ai.airy-otter-8097.chatgpt.site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A769C-81CF-4938-9482-B6CD3C8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Live Alpaca Paper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C6BD4-ECB7-48EB-8A8C-8972F002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053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Defined risk orders with auditable receipts</a:t>
            </a:r>
          </a:p>
        </p:txBody>
      </p:sp>
    </p:spTree>
    <p:extLst>
      <p:ext uri="{BB962C8B-B14F-4D97-AF65-F5344CB8AC3E}">
        <p14:creationId xmlns:p14="http://schemas.microsoft.com/office/powerpoint/2010/main" val="659845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2026-09-04T12:28:40.5040000Z</dcterms:created>
  <dcterms:modified xsi:type="dcterms:W3CDTF">2026-09-04T12:28:40.5040000Z</dcterms:modified>
</coreProperties>
</file>