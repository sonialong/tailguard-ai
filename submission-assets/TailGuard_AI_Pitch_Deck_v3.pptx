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57a288831448e3" /><Relationship Type="http://schemas.openxmlformats.org/officeDocument/2006/relationships/extended-properties" Target="/docProps/app.xml" Id="R96d3255f578a45d9" /><Relationship Type="http://schemas.openxmlformats.org/officeDocument/2006/relationships/officeDocument" Target="/ppt/presentation.xml" Id="R685a417ee69847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3844da76d44bc8"/>
  </p:sldMasterIdLst>
  <p:notesMasterIdLst>
    <p:notesMasterId xmlns:r="http://schemas.openxmlformats.org/officeDocument/2006/relationships" r:id="Ra90bf3fe94df405b"/>
  </p:notesMasterIdLst>
  <p:sldIdLst>
    <p:sldId xmlns:r="http://schemas.openxmlformats.org/officeDocument/2006/relationships" id="256" r:id="R97045041b290441d"/>
    <p:sldId xmlns:r="http://schemas.openxmlformats.org/officeDocument/2006/relationships" id="257" r:id="R02cdf4218ffc4b48"/>
    <p:sldId xmlns:r="http://schemas.openxmlformats.org/officeDocument/2006/relationships" id="258" r:id="R1448f4c7580041cb"/>
    <p:sldId xmlns:r="http://schemas.openxmlformats.org/officeDocument/2006/relationships" id="259" r:id="R99120d5cebd549a7"/>
    <p:sldId xmlns:r="http://schemas.openxmlformats.org/officeDocument/2006/relationships" id="260" r:id="Rf71cb31f6a2943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dd4d8306094d45" /><Relationship Type="http://schemas.openxmlformats.org/officeDocument/2006/relationships/slideMaster" Target="/ppt/slideMasters/slideMaster1.xml" Id="R5e3844da76d44bc8" /><Relationship Type="http://schemas.openxmlformats.org/officeDocument/2006/relationships/notesMaster" Target="/ppt/notesMasters/notesMaster1.xml" Id="Ra90bf3fe94df405b" /><Relationship Type="http://schemas.openxmlformats.org/officeDocument/2006/relationships/presProps" Target="/ppt/presProps.xml" Id="R2e32ca6d2bbd4e3c" /><Relationship Type="http://schemas.openxmlformats.org/officeDocument/2006/relationships/tableStyles" Target="/ppt/tableStyles.xml" Id="R46c995ee48724374" /><Relationship Type="http://schemas.openxmlformats.org/officeDocument/2006/relationships/slide" Target="/ppt/slides/slide1.xml" Id="R97045041b290441d" /><Relationship Type="http://schemas.openxmlformats.org/officeDocument/2006/relationships/slide" Target="/ppt/slides/slide2.xml" Id="R02cdf4218ffc4b48" /><Relationship Type="http://schemas.openxmlformats.org/officeDocument/2006/relationships/slide" Target="/ppt/slides/slide3.xml" Id="R1448f4c7580041cb" /><Relationship Type="http://schemas.openxmlformats.org/officeDocument/2006/relationships/slide" Target="/ppt/slides/slide4.xml" Id="R99120d5cebd549a7" /><Relationship Type="http://schemas.openxmlformats.org/officeDocument/2006/relationships/slide" Target="/ppt/slides/slide5.xml" Id="Rf71cb31f6a2943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f70f2cb75a45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34727882794845" /><Relationship Type="http://schemas.openxmlformats.org/officeDocument/2006/relationships/notesMaster" Target="/ppt/notesMasters/notesMaster1.xml" Id="Rfe247a2ddfc748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e196b3d46c4340" /><Relationship Type="http://schemas.openxmlformats.org/officeDocument/2006/relationships/notesMaster" Target="/ppt/notesMasters/notesMaster1.xml" Id="R95cf75e541794d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5131bfeb1a4e0f" /><Relationship Type="http://schemas.openxmlformats.org/officeDocument/2006/relationships/notesMaster" Target="/ppt/notesMasters/notesMaster1.xml" Id="Rfdf88982d9194d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f10ab9d5c94d68" /><Relationship Type="http://schemas.openxmlformats.org/officeDocument/2006/relationships/notesMaster" Target="/ppt/notesMasters/notesMaster1.xml" Id="Ra8ca25c640c946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fe0a24d4cd439e" /><Relationship Type="http://schemas.openxmlformats.org/officeDocument/2006/relationships/notesMaster" Target="/ppt/notesMasters/notesMaster1.xml" Id="Rf0cd8f72ee60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TailGuard AI for the Alpaca AI Trading Agents Hackathon. The product selects and submits defined risk QQQ option spreads through Alpaca Paper. Cover artwork generated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example uses the first verified Alpaca Paper test on 4 September 2026. QQQ 681/666 put debit spread, one contract, 0.27 limit debit. Alpaca accepted broker order 95c4b8e8-6cf2-4974-9c16-7b452598cf99.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uses two execution controls. The server must enable Paper execution and the request must include confirmPaperOrder=true. Live brokerage execution is never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Alpaca Paper results from 4 September 2026. Order 95c4b8e8-6cf2-4974-9c16-7b452598cf99 and order 77359dc5-9cd4-4daf-9c27-1f9ab99f6260 returned accepted. Both were canceled after verification with filled_qty 0. Receipts are included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TailGuard always uses https://paper-api.alpaca.markets. Local execution was enabled only long enough to run the two requested tests, then disabled again.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fdad1362a4a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e6785295c040ee" /><Relationship Type="http://schemas.openxmlformats.org/officeDocument/2006/relationships/slideLayout" Target="/ppt/slideLayouts/slideLayout1.xml" Id="Rf185ffadf0034f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85ffadf0034f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4be8550d744a8" /><Relationship Type="http://schemas.openxmlformats.org/officeDocument/2006/relationships/image" Target="/ppt/media/image.png" Id="R99bba5ade23b463a" /><Relationship Type="http://schemas.openxmlformats.org/officeDocument/2006/relationships/notesSlide" Target="/ppt/notesSlides/notesSlide1.xml" Id="Rb1cd842a98d94f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364ebfbd74e94" /><Relationship Type="http://schemas.openxmlformats.org/officeDocument/2006/relationships/notesSlide" Target="/ppt/notesSlides/notesSlide2.xml" Id="Rbbb187e888b040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acc7cef5d4abf" /><Relationship Type="http://schemas.openxmlformats.org/officeDocument/2006/relationships/notesSlide" Target="/ppt/notesSlides/notesSlide3.xml" Id="Ra423ecd6aab24e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3e6d6ddca4a84" /><Relationship Type="http://schemas.openxmlformats.org/officeDocument/2006/relationships/notesSlide" Target="/ppt/notesSlides/notesSlide4.xml" Id="Rb9126267dda84b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ab397c9824584" /><Relationship Type="http://schemas.openxmlformats.org/officeDocument/2006/relationships/notesSlide" Target="/ppt/notesSlides/notesSlide5.xml" Id="Rd5906adb92ad43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ba5ade23b463a"/>
          <a:srcRect xmlns:a="http://schemas.openxmlformats.org/drawingml/2006/main" l="26550" t="0" r="265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2B122-4897-41F8-9F80-58CD483F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AC4D0-4D4C-4DE8-99EE-84C64F49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TAILGUARD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6D4C7-96AC-4C56-95AF-F1597920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561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An AI agent that buys</a:t>
            </a:r>
          </a:p>
          <a:p xmlns:a="http://schemas.openxmlformats.org/drawingml/2006/main">
            <a:pPr>
              <a:defRPr sz="367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downside protection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3DF02-7644-465B-910F-13F406CC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5095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The user sets a loss scenario and spending limit. TailGuard selects a defined risk QQQ put spread and sends the order to Alpaca Paper.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B6EEF-9D9E-4524-880E-064D5717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Two Paper orders accepted by Alpaca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BEFD4-64E5-4235-8646-CA2684FD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4"/>
                </a:solidFill>
                <a:latin typeface="Arial"/>
                <a:ea typeface="Arial"/>
                <a:cs typeface="Arial"/>
              </a:rPr>
              <a:t>$27 and $12 maximum premium</a:t>
            </a:r>
          </a:p>
        </p:txBody>
      </p:sp>
    </p:spTree>
    <p:extLst>
      <p:ext uri="{BB962C8B-B14F-4D97-AF65-F5344CB8AC3E}">
        <p14:creationId xmlns:p14="http://schemas.microsoft.com/office/powerpoint/2010/main" val="1931297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B3576-C6B8-4D66-9733-51C1D35E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What the product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B34A0-3F02-4D66-8C2B-A54320F9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03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9676C-A086-45AF-8392-51C3C3C8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7AF"/>
                </a:solidFill>
                <a:latin typeface="Arial"/>
                <a:ea typeface="Arial"/>
                <a:cs typeface="Arial"/>
              </a:rPr>
              <a:t>TAILGUARD AI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0AEDE-22C3-48B9-89FE-7C3A3080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USER 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86DD6-9F73-4F06-B930-FC5BE157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619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Protect my portfolio from a 5% QQQ selloff.</a:t>
            </a:r>
          </a:p>
          <a:p xmlns:a="http://schemas.openxmlformats.org/drawingml/2006/main">
            <a:pPr>
              <a:defRPr sz="22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Spend no more than $100.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930D9-F107-4CCA-B615-1B964974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68580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95780-A44D-43DB-8350-C2828D50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81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TAILGUARD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749E8-4F5B-4FDD-ABA4-3A384389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Buy QQQ 681 put</a:t>
            </a:r>
          </a:p>
          <a:p xmlns:a="http://schemas.openxmlformats.org/drawingml/2006/main">
            <a:pPr>
              <a:defRPr sz="22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Sell QQQ 666 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FF4F5-259B-4AA9-8A45-50DEFD2D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$0.27 debit   $27 maximum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FE078-5461-4016-A3B1-F49594ED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03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E1299-336C-4696-91EE-83CC5D03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1019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7F4"/>
                </a:solidFill>
                <a:latin typeface="Arial"/>
                <a:ea typeface="Arial"/>
                <a:cs typeface="Arial"/>
              </a:rPr>
              <a:t>TailGuard reads the live QQQ option chain, rejects unsafe candidates, constructs an Alpaca multi leg order, and returns the broker receipt.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95110-EFEC-4BBB-A898-801E9ED4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The language model interprets the mandate. Deterministic code chooses the contracts and price.</a:t>
            </a:r>
          </a:p>
        </p:txBody>
      </p:sp>
    </p:spTree>
    <p:extLst>
      <p:ext uri="{BB962C8B-B14F-4D97-AF65-F5344CB8AC3E}">
        <p14:creationId xmlns:p14="http://schemas.microsoft.com/office/powerpoint/2010/main" val="1964872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658E3-29BF-47FF-961D-88E16824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The 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0EC04-2186-4AC5-A3D9-B7611EDA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03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9EA61-9EC3-434C-A0E7-FC8D10E6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7AF"/>
                </a:solidFill>
                <a:latin typeface="Arial"/>
                <a:ea typeface="Arial"/>
                <a:cs typeface="Arial"/>
              </a:rPr>
              <a:t>TAILGUARD AI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A3A35-7390-4A24-9FD6-5A328C46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14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59E74-AECB-432C-8588-D5F4AE79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Set the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78748-F9C9-4127-BD96-E1F82163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57400"/>
            <a:ext cx="4152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Choose a market drop and the most premium TailGuard may spend.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D87D2-0120-42DF-A5DD-164B511E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14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22F75-F90C-40C4-A455-D6AB1470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7640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Run the protection 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FC6C9-BBB1-4CDD-A038-018F7997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57400"/>
            <a:ext cx="4152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TailGuard reads Alpaca account data, QQQ price, and the option chain.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F3583-3487-4F11-95BC-AB6F976F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514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83ED0-9AF9-40F5-BBEC-303C6ECE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Review the spread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87609-0C6D-4F29-9BBE-03D8F6D9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4152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The screen shows both legs, debit, maximum cost, and five policy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0F263-C264-490F-82B7-9A815796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5143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BB82B-087A-4F07-A043-F09009D0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Confirm the Paper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661E4-0E73-47D5-A7B9-0A963994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14750"/>
            <a:ext cx="4152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A second explicit confirmation sends one capped multi leg order to Alpaca Paper.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51D43-2049-4FE3-B8AB-3F4C7BFF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71D76-29AD-4833-ACF8-217D4E42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62550"/>
            <a:ext cx="909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Broker order ID, status, timestamp, contract scan count, selected legs, and full JSON receipt</a:t>
            </a:r>
          </a:p>
        </p:txBody>
      </p:sp>
    </p:spTree>
    <p:extLst>
      <p:ext uri="{BB962C8B-B14F-4D97-AF65-F5344CB8AC3E}">
        <p14:creationId xmlns:p14="http://schemas.microsoft.com/office/powerpoint/2010/main" val="2063045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68E21-0686-4922-9A60-6629C094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Alpaca Paper order 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D2403-FC39-4B76-9CE8-D289EFF2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03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87B69-BC72-4FE4-A22A-B22B0C76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7AF"/>
                </a:solidFill>
                <a:latin typeface="Arial"/>
                <a:ea typeface="Arial"/>
                <a:cs typeface="Arial"/>
              </a:rPr>
              <a:t>TAILGUARD AI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CB40F-C319-4E5C-B1FA-8C691EAA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Both orders reached Alpaca and returned broker status accepted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66750" y="2209800"/>
          <a:ext xmlns:a="http://schemas.openxmlformats.org/drawingml/2006/main" cx="108585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428875"/>
                <a:gridCol w="2428875"/>
                <a:gridCol w="1095375"/>
                <a:gridCol w="1571625"/>
                <a:gridCol w="2095500"/>
              </a:tblGrid>
              <a:tr h="7048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0A08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95250" marR="95250" marT="76200" marB="76200">
                    <a:solidFill>
                      <a:srgbClr val="C8F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0A08"/>
                          </a:solidFill>
                          <a:latin typeface="Arial"/>
                          <a:ea typeface="Arial"/>
                          <a:cs typeface="Arial"/>
                        </a:rPr>
                        <a:t>Long put</a:t>
                      </a:r>
                    </a:p>
                  </a:txBody>
                  <a:tcPr marL="95250" marR="95250" marT="76200" marB="76200">
                    <a:solidFill>
                      <a:srgbClr val="C8F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0A08"/>
                          </a:solidFill>
                          <a:latin typeface="Arial"/>
                          <a:ea typeface="Arial"/>
                          <a:cs typeface="Arial"/>
                        </a:rPr>
                        <a:t>Short put</a:t>
                      </a:r>
                    </a:p>
                  </a:txBody>
                  <a:tcPr marL="95250" marR="95250" marT="76200" marB="76200">
                    <a:solidFill>
                      <a:srgbClr val="C8F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0A08"/>
                          </a:solidFill>
                          <a:latin typeface="Arial"/>
                          <a:ea typeface="Arial"/>
                          <a:cs typeface="Arial"/>
                        </a:rPr>
                        <a:t>Limit</a:t>
                      </a:r>
                    </a:p>
                  </a:txBody>
                  <a:tcPr marL="95250" marR="95250" marT="76200" marB="76200">
                    <a:solidFill>
                      <a:srgbClr val="C8F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0A08"/>
                          </a:solidFill>
                          <a:latin typeface="Arial"/>
                          <a:ea typeface="Arial"/>
                          <a:cs typeface="Arial"/>
                        </a:rPr>
                        <a:t>Alpaca status</a:t>
                      </a:r>
                    </a:p>
                  </a:txBody>
                  <a:tcPr marL="95250" marR="95250" marT="76200" marB="76200">
                    <a:solidFill>
                      <a:srgbClr val="C8F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70A08"/>
                          </a:solidFill>
                          <a:latin typeface="Arial"/>
                          <a:ea typeface="Arial"/>
                          <a:cs typeface="Arial"/>
                        </a:rPr>
                        <a:t>Broker order</a:t>
                      </a:r>
                    </a:p>
                  </a:txBody>
                  <a:tcPr marL="95250" marR="95250" marT="76200" marB="76200">
                    <a:solidFill>
                      <a:srgbClr val="C8FF3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5% drop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QQQ 681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QQQ 666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$0.27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ACCEPTED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95c4b8e8…cf99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8% drop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QQQ 660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QQQ 645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$0.12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ACCEPTED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7F4"/>
                          </a:solidFill>
                          <a:latin typeface="Arial"/>
                          <a:ea typeface="Arial"/>
                          <a:cs typeface="Arial"/>
                        </a:rPr>
                        <a:t>77359dc5…6260</a:t>
                      </a:r>
                    </a:p>
                  </a:txBody>
                  <a:tcPr marL="95250" marR="95250" marT="76200" marB="76200">
                    <a:solidFill>
                      <a:srgbClr val="11171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2D3B1-151F-40ED-A751-FC1DA23B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$39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12A70-C3F6-44C8-93C0-5875BE6A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combined maximum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B535D-94CA-45C0-BEB8-1D391AD5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0125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8FF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8FF3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9B52A-D19F-4BAF-AE88-63800382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34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contracts filled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E45C2-BCB9-44DA-B7F5-C37D9D46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244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CANCELED AFTER VERIFICATION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10BEF-6002-4BF7-ADBB-637B6958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7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The test proved submission without leaving queued exposure.</a:t>
            </a:r>
          </a:p>
        </p:txBody>
      </p:sp>
    </p:spTree>
    <p:extLst>
      <p:ext uri="{BB962C8B-B14F-4D97-AF65-F5344CB8AC3E}">
        <p14:creationId xmlns:p14="http://schemas.microsoft.com/office/powerpoint/2010/main" val="540521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ED0DD-F2FD-498D-B0CA-B5FA3275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How TailGuard limits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57336-1915-4779-90E6-847FB70E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03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26843-97DD-4CF6-B564-6854DDA1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7AF"/>
                </a:solidFill>
                <a:latin typeface="Arial"/>
                <a:ea typeface="Arial"/>
                <a:cs typeface="Arial"/>
              </a:rPr>
              <a:t>TAILGUARD AI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D6E11-F47A-4C9B-A913-1F3497FC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91C5D-DCA3-483C-8F54-DB1C0F31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954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Defined risk spreads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A6AD8-5887-4638-8052-9D1FBE76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Every order pairs a long put with a lower strike short put. TailGuard never sends a naked option.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6709A-903F-4719-B7B6-630802B8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3026D-D7C4-4213-9B73-6187C699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990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Premium capped before submission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F1259-2B0C-49B1-8E2B-DBB7B5E4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847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The selected debit must fit the user budget. The two tests risked at most $27 and $12 in Paper funds.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5F2F4-F284-4D27-BABA-24AB5A18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0A0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0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C29C7-472A-4914-AA21-0349776C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4"/>
                </a:solidFill>
                <a:latin typeface="Arial"/>
                <a:ea typeface="Arial"/>
                <a:cs typeface="Arial"/>
              </a:rPr>
              <a:t>Explicit Paper confirmation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C9A94-155E-40BB-B5CD-AEE1EF5B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7A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7AF"/>
                </a:solidFill>
                <a:latin typeface="Arial"/>
                <a:ea typeface="Arial"/>
                <a:cs typeface="Arial"/>
              </a:rPr>
              <a:t>Staging stays read only. Submission requires a server flag plus a confirmed request. Production returns to disabled after testing.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86805-15BB-4ED7-BAA5-3039D31C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77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7770"/>
                </a:solidFill>
                <a:latin typeface="Arial"/>
                <a:ea typeface="Arial"/>
                <a:cs typeface="Arial"/>
              </a:rPr>
              <a:t>Paper trading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DB41D-6473-4964-9D17-01A03680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10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5F7F4"/>
                </a:solidFill>
                <a:latin typeface="Arial"/>
                <a:ea typeface="Arial"/>
                <a:cs typeface="Arial"/>
              </a:rPr>
              <a:t>No real money and no live brokerage endpoint</a:t>
            </a:r>
          </a:p>
        </p:txBody>
      </p:sp>
    </p:spTree>
    <p:extLst>
      <p:ext uri="{BB962C8B-B14F-4D97-AF65-F5344CB8AC3E}">
        <p14:creationId xmlns:p14="http://schemas.microsoft.com/office/powerpoint/2010/main" val="1778743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2026-09-04T12:44:47.4980000Z</dcterms:created>
  <dcterms:modified xsi:type="dcterms:W3CDTF">2026-09-04T12:44:47.4980000Z</dcterms:modified>
</coreProperties>
</file>