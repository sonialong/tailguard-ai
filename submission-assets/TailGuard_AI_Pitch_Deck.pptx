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e550a9f1c433a" /><Relationship Type="http://schemas.openxmlformats.org/officeDocument/2006/relationships/extended-properties" Target="/docProps/app.xml" Id="R6d49a4b56e7a4391" /><Relationship Type="http://schemas.openxmlformats.org/officeDocument/2006/relationships/officeDocument" Target="/ppt/presentation.xml" Id="R9c6c7e50e5ae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2bc42ac824ba1"/>
  </p:sldMasterIdLst>
  <p:notesMasterIdLst>
    <p:notesMasterId xmlns:r="http://schemas.openxmlformats.org/officeDocument/2006/relationships" r:id="R293e011316944d00"/>
  </p:notesMasterIdLst>
  <p:sldIdLst>
    <p:sldId xmlns:r="http://schemas.openxmlformats.org/officeDocument/2006/relationships" id="256" r:id="Rdaac21df04bf419b"/>
    <p:sldId xmlns:r="http://schemas.openxmlformats.org/officeDocument/2006/relationships" id="257" r:id="R664a0c4d9f534041"/>
    <p:sldId xmlns:r="http://schemas.openxmlformats.org/officeDocument/2006/relationships" id="258" r:id="R9710a887cc81413f"/>
    <p:sldId xmlns:r="http://schemas.openxmlformats.org/officeDocument/2006/relationships" id="259" r:id="Rda922b9f9011434d"/>
    <p:sldId xmlns:r="http://schemas.openxmlformats.org/officeDocument/2006/relationships" id="260" r:id="Rb8ff02fdfad249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3b2d903c54709" /><Relationship Type="http://schemas.openxmlformats.org/officeDocument/2006/relationships/slideMaster" Target="/ppt/slideMasters/slideMaster1.xml" Id="R8f02bc42ac824ba1" /><Relationship Type="http://schemas.openxmlformats.org/officeDocument/2006/relationships/notesMaster" Target="/ppt/notesMasters/notesMaster1.xml" Id="R293e011316944d00" /><Relationship Type="http://schemas.openxmlformats.org/officeDocument/2006/relationships/presProps" Target="/ppt/presProps.xml" Id="R9aeea0e4fbd14898" /><Relationship Type="http://schemas.openxmlformats.org/officeDocument/2006/relationships/tableStyles" Target="/ppt/tableStyles.xml" Id="Rb130292458aa4b86" /><Relationship Type="http://schemas.openxmlformats.org/officeDocument/2006/relationships/slide" Target="/ppt/slides/slide1.xml" Id="Rdaac21df04bf419b" /><Relationship Type="http://schemas.openxmlformats.org/officeDocument/2006/relationships/slide" Target="/ppt/slides/slide2.xml" Id="R664a0c4d9f534041" /><Relationship Type="http://schemas.openxmlformats.org/officeDocument/2006/relationships/slide" Target="/ppt/slides/slide3.xml" Id="R9710a887cc81413f" /><Relationship Type="http://schemas.openxmlformats.org/officeDocument/2006/relationships/slide" Target="/ppt/slides/slide4.xml" Id="Rda922b9f9011434d" /><Relationship Type="http://schemas.openxmlformats.org/officeDocument/2006/relationships/slide" Target="/ppt/slides/slide5.xml" Id="Rb8ff02fdfad2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cb5eff212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0753a84de4d94" /><Relationship Type="http://schemas.openxmlformats.org/officeDocument/2006/relationships/notesMaster" Target="/ppt/notesMasters/notesMaster1.xml" Id="R86b9cefc5955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119d3cc9a40f0" /><Relationship Type="http://schemas.openxmlformats.org/officeDocument/2006/relationships/notesMaster" Target="/ppt/notesMasters/notesMaster1.xml" Id="Re0b041ac5f81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8c162f0fd4179" /><Relationship Type="http://schemas.openxmlformats.org/officeDocument/2006/relationships/notesMaster" Target="/ppt/notesMasters/notesMaster1.xml" Id="Ra99fc6b1aadb43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f7d26f01e24bc1" /><Relationship Type="http://schemas.openxmlformats.org/officeDocument/2006/relationships/notesMaster" Target="/ppt/notesMasters/notesMaster1.xml" Id="R0bf4c52b4126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10b8ad62d04aa3" /><Relationship Type="http://schemas.openxmlformats.org/officeDocument/2006/relationships/notesMaster" Target="/ppt/notesMasters/notesMaster1.xml" Id="R26982ee47815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TailGuard AI. Built for the Alpaca AI Trading Agents Hackathon. Cover artwork generated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thesis: autonomous trading needs an explicit risk governor. TailGuard stages a defined-risk hedge and produces a machine-readable receipt.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data comes from Alpaca Paper account endpoints, the IEX QQQ snapshot and the option chain. The selector is deterministic. Production execution is hard-disabled.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against the deployed application on 4 September 2026. The selected spread and quotes are point-in-time values. No order was submitted.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product distinction: TailGuard is a governance and protection layer, not a prediction engine. Demo: https://tailguard-ai.airy-otter-8097.chatgpt.site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ee30c1b76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02702824c4833" /><Relationship Type="http://schemas.openxmlformats.org/officeDocument/2006/relationships/slideLayout" Target="/ppt/slideLayouts/slideLayout1.xml" Id="R486368958e7448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368958e7448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4a13f4bc48d9" /><Relationship Type="http://schemas.openxmlformats.org/officeDocument/2006/relationships/image" Target="/ppt/media/image.png" Id="R71c7b3f3e8ba44fb" /><Relationship Type="http://schemas.openxmlformats.org/officeDocument/2006/relationships/notesSlide" Target="/ppt/notesSlides/notesSlide1.xml" Id="R34636842316347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1683cd95a41cd" /><Relationship Type="http://schemas.openxmlformats.org/officeDocument/2006/relationships/notesSlide" Target="/ppt/notesSlides/notesSlide2.xml" Id="R4a6860904f09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d475355df455b" /><Relationship Type="http://schemas.openxmlformats.org/officeDocument/2006/relationships/notesSlide" Target="/ppt/notesSlides/notesSlide3.xml" Id="R1abc4c9ecf56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c49a36e164d7d" /><Relationship Type="http://schemas.openxmlformats.org/officeDocument/2006/relationships/notesSlide" Target="/ppt/notesSlides/notesSlide4.xml" Id="Rbef88d699205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c8dded3a43b6" /><Relationship Type="http://schemas.openxmlformats.org/officeDocument/2006/relationships/notesSlide" Target="/ppt/notesSlides/notesSlide5.xml" Id="R65efbeddf28f43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7b3f3e8ba44fb"/>
          <a:srcRect xmlns:a="http://schemas.openxmlformats.org/drawingml/2006/main" l="24205" t="0" r="2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CBE53-B130-4AAC-B9E4-1D78545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86A89-21D3-44D3-800B-2A566DA9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ALPACA AI TRADING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799FD-9434-414D-BF11-8F6CF2D0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TailGuard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61B72-5A39-4E8F-98CE-EDDC54C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Autonomous options insurance</a:t>
            </a:r>
          </a:p>
          <a:p xmlns:a="http://schemas.openxmlformats.org/drawingml/2006/main">
            <a:pPr>
              <a:defRPr sz="22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for agentic portfolios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51DD8-A883-453A-9045-0B2ACF6D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A deterministic risk governor that converts a plain-language downside mandate into an auditable, budget-capped QQQ put spread.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980BA-982F-4090-8565-EE3ABDA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LIVE ALPACA PAPER DATA  •  DEFINED RISK  •  STAGE ONLY</a:t>
            </a:r>
          </a:p>
        </p:txBody>
      </p:sp>
    </p:spTree>
    <p:extLst>
      <p:ext uri="{BB962C8B-B14F-4D97-AF65-F5344CB8AC3E}">
        <p14:creationId xmlns:p14="http://schemas.microsoft.com/office/powerpoint/2010/main" val="182489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222F9-E952-494C-9DDD-88DB03F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28C35-B208-4BEC-A779-D9C256E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Give trading agents a downside governor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A2306-88A7-44AA-8CEE-D495E94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9F01A-DA50-41A1-9EE7-5D8EC009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TAILGUARD AI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36E4C-EA8E-4949-A5BA-8C96A09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761E8-CDEF-40FC-8D59-46662E64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810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Agents can express a view and place trades. They rarely carry an explicit, inspectable protection mandate.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BD465-256C-4D13-ADEB-E24F7FB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145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12642-ED29-48AC-B676-976C1BA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TailGuard turns intent into a controlled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EE3DC-8416-47BE-AD53-6F493C0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3224C-C1B8-48A3-9767-E03C8E6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71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Plain-language mandate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55218-0923-4A9D-A76A-84BEB16F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955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Budget, expiry window, downside target and underlying.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29F30-D0C4-456D-A916-4B6B0E8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BA037-C90D-4B6B-823A-EFBB2014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Deterministic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B57DF-2029-4D31-8A4A-FFAC12F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Scans live QQQ options and ranks defined-risk spreads.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62E27-CD0E-4AA3-936E-0FB959F1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B3747-3B36-42E0-903A-01731962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Auditable staging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4659F-3DFF-4793-A213-594354FF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Runs policy gates and emits a broker-ready receipt without submitting.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07B34-DF99-4E7F-B6DF-2B270D4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THE AGENT PROPOSES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5D910-5751-4F04-BC27-F6258CF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POLICY DECIDES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94F99-CD5E-4E5C-8842-AD26CFF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The demo deliberately stops before execution. Safety is a product feature, not a disclaimer.</a:t>
            </a:r>
          </a:p>
        </p:txBody>
      </p:sp>
    </p:spTree>
    <p:extLst>
      <p:ext uri="{BB962C8B-B14F-4D97-AF65-F5344CB8AC3E}">
        <p14:creationId xmlns:p14="http://schemas.microsoft.com/office/powerpoint/2010/main" val="845635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53E01-A023-4C7C-9826-1C572DD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5E7BA-D70E-4E61-B7D5-7C60CA02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One live cycle from mandate to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05CAF-54E0-4AF9-8BB3-4977E0FE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CB82D-AF83-4F88-87F9-5BA12090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TAILGUARD AI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9E91-0049-4ED5-8F67-AD31CF5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952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1E2DC-E010-4173-AF91-B73C1E10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LIVE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88A83-04E9-41E8-A9AC-1B5DB73F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647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Paper account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QQQ quote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Option 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33F63-0690-4C3B-AE8A-5E19CE2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181A5-42DD-4AD0-A61B-F5E1BB1E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1952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8D3DA-1B28-4041-9A67-CC9AEC5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859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MANDATE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B6B85-71A9-42D4-8F34-9FF7E64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90775"/>
            <a:ext cx="1647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$350 max premium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7–30 DTE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Downside protection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81618-1332-49B2-94C8-42532E4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975F4-63C5-4CEA-B349-D68A2AC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1952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ACEC4-C9E4-4E1C-BD6C-455C3C3F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859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F5D67-6282-4EA1-9DF9-0D157286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90775"/>
            <a:ext cx="1647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Parse OCC symbols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Rank spreads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Minimize debit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39BD-E4F5-4E2E-97ED-4A3570DA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622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423A5-D4BE-4391-8899-825906CC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1952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1EC81-76E3-4A1B-9EC6-3300A31C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859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POLICY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002C9-6BB1-4FD3-97AC-756C7B1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90775"/>
            <a:ext cx="1647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Defined risk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Quote integrity</a:t>
            </a:r>
          </a:p>
          <a:p xmlns:a="http://schemas.openxmlformats.org/drawingml/2006/main">
            <a:pPr>
              <a:defRPr sz="10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Budget and expiry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68863-0979-437B-B8CB-5FD697CD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622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E6067-E367-4B40-956C-FB1F7961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1620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9FF3D"/>
          </a:solidFill>
          <a:ln xmlns:a="http://schemas.openxmlformats.org/drawingml/2006/main" w="9525">
            <a:solidFill>
              <a:srgbClr val="C9FF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D1CE0-A7F0-4876-ADEF-4AE9AD7B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859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0BD2A-E9A1-4299-93B4-ACC4D698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907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Staged</a:t>
            </a:r>
          </a:p>
          <a:p xmlns:a="http://schemas.openxmlformats.org/drawingml/2006/main">
            <a:pPr>
              <a:defRPr sz="10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mleg</a:t>
            </a:r>
          </a:p>
          <a:p xmlns:a="http://schemas.openxmlformats.org/drawingml/2006/main">
            <a:pPr>
              <a:defRPr sz="10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574BB-D78E-45CA-8E6C-EE79ABC3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999C4-B62A-4713-8AC9-1032661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8775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892A0-7D22-49F7-B394-937EC7F8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9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ALLOW_PAPER_EXECUTION = false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D3D02-CD7D-40DA-8E07-0142F1D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The production build can inspect the account, quote the market and construct a valid multi-leg order payload. It cannot submit that order.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C6741-393C-47AC-BDDD-0AC131A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NO CREDENTIALS IN CLIENT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998F5-74E3-4465-92AA-C87300BA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24500"/>
            <a:ext cx="1666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NO NAKED 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07966-B193-49A0-8E0A-4929874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524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C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NO SILENT EXECUTION</a:t>
            </a:r>
          </a:p>
        </p:txBody>
      </p:sp>
    </p:spTree>
    <p:extLst>
      <p:ext uri="{BB962C8B-B14F-4D97-AF65-F5344CB8AC3E}">
        <p14:creationId xmlns:p14="http://schemas.microsoft.com/office/powerpoint/2010/main" val="374698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56B54-5B9F-4B15-8C1A-1FA1E438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VERIFIED PRODUCTION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A67F2-4C25-4AA2-9EF3-FF0F744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Live Alpaca data, five gates, zero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AC0A1-E0B0-4223-8D1B-2E795006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44FE7-5946-4D38-82D4-895A687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TAILGUARD AI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E59AD-85D0-4F66-9436-3EA8557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$717.22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3FE44-A732-4FC4-A60B-18474C5A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QQQ spot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85991-0545-4263-B474-14A84399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927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6FBB0-410E-44D4-A34C-23B01747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contracts scanned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719B8-7DD9-4BAD-9BC0-E7740FE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897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EE263-3C45-492C-BF96-C048D96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9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valid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7EAAB-6BB9-435B-A5D9-D6BCFC2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20B1B-C9EE-496A-BB9F-12299B42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policy gates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23210-8F70-4B17-A8D1-2638036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70485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037AF-F106-410C-95D9-917AB67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STAGED QQQ PUT DEBIT SPREAD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EE964-0076-47A5-9E94-971E5DFD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Buy  QQQ 681 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079BB-2971-4C67-9D1E-E2993B7D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Sell QQQ 666 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AEA8F-BF26-43C8-B609-16B3AF5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1950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196AB-2E01-4CD5-BAA1-F571D741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$0.27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CC1DF-4D24-4202-B846-50DF8C2C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net debit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8DE13-323F-475E-825A-3EB9A2F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$27 cost  /  $1,473 max protection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902FD-7D90-486D-82CE-B5E8276F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4480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9FF3D"/>
          </a:solidFill>
          <a:ln xmlns:a="http://schemas.openxmlformats.org/drawingml/2006/main" w="9525">
            <a:solidFill>
              <a:srgbClr val="C9FF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1B878-FA51-475B-A7BD-DE849F6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EXECUTION RECEIPT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B9F44-2321-42E9-8372-9AA3F6D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5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NOT</a:t>
            </a:r>
          </a:p>
          <a:p xmlns:a="http://schemas.openxmlformats.org/drawingml/2006/main">
            <a:pPr>
              <a:defRPr sz="28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54CF1-7B2D-42F1-9DE1-ED9F6DC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Staged payload is valid.</a:t>
            </a:r>
          </a:p>
          <a:p xmlns:a="http://schemas.openxmlformats.org/drawingml/2006/main">
            <a:pPr>
              <a:defRPr sz="10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Production safety switch is 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6BE5B-52CB-498B-8B4F-2C45B4DB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Production smoke test • 4 Sep 2026 • Values are a point-in-time Paper-data result</a:t>
            </a:r>
          </a:p>
        </p:txBody>
      </p:sp>
    </p:spTree>
    <p:extLst>
      <p:ext uri="{BB962C8B-B14F-4D97-AF65-F5344CB8AC3E}">
        <p14:creationId xmlns:p14="http://schemas.microsoft.com/office/powerpoint/2010/main" val="1821045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07374-55AA-4830-A11D-871247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2309-882D-40B2-82D6-059EB8A6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Trust is the missing layer in agentic trading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84034-11C4-4AB7-AC82-5F05BC6D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82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43DAA-4D34-4B4D-86BF-A4D39140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9B1AA"/>
                </a:solidFill>
                <a:latin typeface="Arial"/>
                <a:ea typeface="Arial"/>
                <a:cs typeface="Arial"/>
              </a:rPr>
              <a:t>TAILGUARD AI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1CB55-B148-4F72-9551-FE8FAF4D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TailGuard is not another signal bot.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7746C-6ABE-439E-87E8-659C1AF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4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9B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1AA"/>
                </a:solidFill>
                <a:latin typeface="Arial"/>
                <a:ea typeface="Arial"/>
                <a:cs typeface="Arial"/>
              </a:rPr>
              <a:t>It is the policy layer that makes autonomous strategies easier to inspect, govern and extend.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37F5B-9DEA-4387-AE37-E2752A7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333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F2B62-BDCA-48A6-B051-E150D43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For builders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6407D-3E5D-444F-8408-671D6AE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A reusable protection primitive for trading agents and portfolio copilots.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CD2A-FEAA-4D35-AFB7-56D975B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3333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2A524-496B-4161-BBC4-F932A65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For judges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BE581-6C83-4F4F-AC5C-D138E799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A real Alpaca integration with live evidence and an explicit safety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567BA-B765-47CE-B609-5BA4D77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333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612"/>
          </a:solidFill>
          <a:ln xmlns:a="http://schemas.openxmlformats.org/drawingml/2006/main" w="9525">
            <a:solidFill>
              <a:srgbClr val="2D38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7DB9F-A2B6-4CA7-AE64-D0BFA416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71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56F2D-0524-437C-B703-460834E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Portfolio-aware hedging, explainable mandate tuning and opt-in paper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D187C-9C59-4C83-B735-1C0DA160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FF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FF3D"/>
                </a:solidFill>
                <a:latin typeface="Arial"/>
                <a:ea typeface="Arial"/>
                <a:cs typeface="Arial"/>
              </a:rPr>
              <a:t>tailguard-ai.airy-otter-8097.chatgpt.site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AC303-A27D-43AB-A393-B2253E58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F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BUILT WITH ALPACA PAPER</a:t>
            </a:r>
          </a:p>
        </p:txBody>
      </p:sp>
    </p:spTree>
    <p:extLst>
      <p:ext uri="{BB962C8B-B14F-4D97-AF65-F5344CB8AC3E}">
        <p14:creationId xmlns:p14="http://schemas.microsoft.com/office/powerpoint/2010/main" val="861693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2026-09-04T08:17:07.3040000Z</dcterms:created>
  <dcterms:modified xsi:type="dcterms:W3CDTF">2026-09-04T08:17:07.3040000Z</dcterms:modified>
</coreProperties>
</file>